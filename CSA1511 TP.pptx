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76" r:id="rId4"/>
    <p:sldId id="277" r:id="rId5"/>
    <p:sldId id="261" r:id="rId6"/>
    <p:sldId id="262" r:id="rId7"/>
    <p:sldId id="263" r:id="rId8"/>
    <p:sldId id="271" r:id="rId9"/>
    <p:sldId id="272" r:id="rId10"/>
    <p:sldId id="27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62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317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5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1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78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17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15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10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3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6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63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1652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5444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7066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9159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33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8B336F9-0246-4170-950C-BB97986A0C11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3236642-DB6C-4BA7-BEA9-FC3950845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65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DBC5-3C63-B830-E231-ED940EA9C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7534" y="4520305"/>
            <a:ext cx="11552904" cy="1006014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effectLst/>
              </a:rPr>
            </a:b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999" b="1" dirty="0">
                <a:latin typeface="Poppins Semi-Bold"/>
                <a:ea typeface="Poppins Semi-Bold"/>
                <a:cs typeface="Poppins Semi-Bold"/>
                <a:sym typeface="Poppins Semi-Bold"/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1EFCD-99AB-C0DA-1577-747ADBC37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623" y="4113345"/>
            <a:ext cx="9144000" cy="478349"/>
          </a:xfrm>
        </p:spPr>
        <p:txBody>
          <a:bodyPr>
            <a:normAutofit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CSA1511-CLOUD COMPUTING AND BIG DATA ANALYSIS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DC3AA-57D0-3CDF-CE82-871BFEC7DED9}"/>
              </a:ext>
            </a:extLst>
          </p:cNvPr>
          <p:cNvSpPr txBox="1"/>
          <p:nvPr/>
        </p:nvSpPr>
        <p:spPr>
          <a:xfrm>
            <a:off x="7197214" y="5155228"/>
            <a:ext cx="49489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	      M Mohan siva reddy(192573011)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dirty="0"/>
          </a:p>
        </p:txBody>
      </p:sp>
      <p:pic>
        <p:nvPicPr>
          <p:cNvPr id="9" name="Image 1">
            <a:extLst>
              <a:ext uri="{FF2B5EF4-FFF2-40B4-BE49-F238E27FC236}">
                <a16:creationId xmlns:a16="http://schemas.microsoft.com/office/drawing/2014/main" id="{E03EB906-7EEB-7023-2A1B-537B37D8F44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58" y="316588"/>
            <a:ext cx="11776280" cy="1334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1A9EA8-75B5-33A8-364B-606B4C2C499C}"/>
              </a:ext>
            </a:extLst>
          </p:cNvPr>
          <p:cNvSpPr txBox="1"/>
          <p:nvPr/>
        </p:nvSpPr>
        <p:spPr>
          <a:xfrm>
            <a:off x="934063" y="1762371"/>
            <a:ext cx="105598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Artificial Intelligence and Machine Learning in Cloud Platforms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048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B64E-9226-00E9-D2C0-CDD3CD6EB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93" y="337909"/>
            <a:ext cx="10018713" cy="114553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DDCA0-8B91-614F-F247-9674F277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182" y="1803760"/>
            <a:ext cx="11035635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enables computers to perform tasks that normally require human intelligence.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(ML), a branch of AI, allows systems to learn from data and improve their performance without explicit programming.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provide scalable computing resources, storage, and AI services over the internet.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AI and ML with cloud computing helps organizations build intelligent, efficient, and cost-effective applications.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are widely used in healthcare, finance, education, and e-commerce.</a:t>
            </a: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2BFF5424-416D-3A09-5EC3-5A6B693EB096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EBBE7C2B-2AB0-D152-9A26-6928B31396F6}"/>
              </a:ext>
            </a:extLst>
          </p:cNvPr>
          <p:cNvSpPr/>
          <p:nvPr/>
        </p:nvSpPr>
        <p:spPr>
          <a:xfrm>
            <a:off x="-19666" y="130685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48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6140984-9D07-5CC4-3B31-84D2F03AE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339" y="226142"/>
            <a:ext cx="6166628" cy="1752599"/>
          </a:xfrm>
        </p:spPr>
        <p:txBody>
          <a:bodyPr>
            <a:normAutofit/>
          </a:bodyPr>
          <a:lstStyle/>
          <a:p>
            <a:pPr algn="ctr"/>
            <a:r>
              <a:rPr lang="en-US" sz="44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</a:t>
            </a: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2B298AEF-1F33-1060-F837-F5FCBFD69368}"/>
              </a:ext>
            </a:extLst>
          </p:cNvPr>
          <p:cNvSpPr/>
          <p:nvPr/>
        </p:nvSpPr>
        <p:spPr>
          <a:xfrm>
            <a:off x="-19666" y="130685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2F9C97FD-9D47-5C10-70E9-A193DE644BB2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3D227-01CD-813C-8727-C449BD759BCB}"/>
              </a:ext>
            </a:extLst>
          </p:cNvPr>
          <p:cNvSpPr txBox="1"/>
          <p:nvPr/>
        </p:nvSpPr>
        <p:spPr>
          <a:xfrm>
            <a:off x="647402" y="1909209"/>
            <a:ext cx="10638503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platforms provide computing resources such as servers, storage, databases, and networking over the internet.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enable users to develop, deploy, and manage applications without maintaining physical hardware.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 cloud platforms include AWS, Microsoft Azure, Google Cloud Platform (GCP), and IBM Cloud.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platforms offer built-in AI and ML services for application development.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scalability, flexibility, security, and cost-effective solutions. </a:t>
            </a:r>
          </a:p>
        </p:txBody>
      </p:sp>
    </p:spTree>
    <p:extLst>
      <p:ext uri="{BB962C8B-B14F-4D97-AF65-F5344CB8AC3E}">
        <p14:creationId xmlns:p14="http://schemas.microsoft.com/office/powerpoint/2010/main" val="156486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EE59B-2E0C-56E5-33E0-2D7DC8E1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6D7F-33DF-51AD-BA7B-7A7D91C89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057" y="1241462"/>
            <a:ext cx="10018713" cy="1069119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AI &amp; ML Work in the Cloud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02828-527C-C2AB-0EB3-A10648ABA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8" y="2459585"/>
            <a:ext cx="11576408" cy="3156953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is collected from users, devices, websites, or sensors and stored securely in the cloud.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cloud cleans, organizes, and prepares the data for analysis.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Machine Learning algorithms are trained using cloud resources such as GPUs and TPUs.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trained AI model is deployed to provide real-time predictions and intelligent services.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&amp; Improvement: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cloud continuously monitors performance and updates the model with new data to improve accuracy.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E16BAB61-B2F7-B03B-00EC-D8A75C4FD35B}"/>
              </a:ext>
            </a:extLst>
          </p:cNvPr>
          <p:cNvSpPr/>
          <p:nvPr/>
        </p:nvSpPr>
        <p:spPr>
          <a:xfrm>
            <a:off x="251798" y="22530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1B62B1C4-CB2E-E969-4AED-4CCE8FD0A3B8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40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EAEB-111F-ECF8-04DB-F323C96DA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0" y="546219"/>
            <a:ext cx="4452374" cy="15070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7A365-C2BE-5ADD-2AB5-95D95C238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022" y="1856641"/>
            <a:ext cx="9871587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 Disease diagnosis, medical image analysis, and patient monitoring.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 Fraud detection, banking automation, and financial trend prediction.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E-commerce: Personalized product recommendations and improved customer experience.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Support: AI-powered chatbots and virtual assistants.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Cities: Traffic management, energy optimization, and public safety.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Personalized learning and intelligent tutoring systems.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Manufacturing: Predictive maintenance, quality inspection, and production automation.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Agriculture: Crop health monitoring, yield prediction, and farming optimization.</a:t>
            </a: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11A9ED70-0959-8246-7E00-EAC321468FEA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A82FFB23-98F4-D77A-D701-930AC47DE37D}"/>
              </a:ext>
            </a:extLst>
          </p:cNvPr>
          <p:cNvSpPr/>
          <p:nvPr/>
        </p:nvSpPr>
        <p:spPr>
          <a:xfrm>
            <a:off x="251798" y="22530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13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8837C-2DAE-1DB5-3657-73BECFD8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1607" y="515217"/>
            <a:ext cx="364531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B6906-AE98-01F5-CA00-1F8B0E1B7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657" y="2393745"/>
            <a:ext cx="8534400" cy="361526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Updates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 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9BFBC73F-3E32-498D-401A-18E3E3EA9C30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A659637B-461E-AFFB-45FC-513F381BE5B9}"/>
              </a:ext>
            </a:extLst>
          </p:cNvPr>
          <p:cNvSpPr/>
          <p:nvPr/>
        </p:nvSpPr>
        <p:spPr>
          <a:xfrm>
            <a:off x="251798" y="22530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67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2A42-102B-1EB8-F1A1-2255C798A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7206" y="441069"/>
            <a:ext cx="425491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B91C9-6A0B-B24B-CE3D-4355B8D6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057" y="2521703"/>
            <a:ext cx="8534400" cy="3615267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Initial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 in AI Models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Dependency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Issues </a:t>
            </a:r>
          </a:p>
          <a:p>
            <a:pPr>
              <a:buFont typeface="Arial" panose="020B0604020202020204" pitchFamily="34" charset="0"/>
              <a:buChar char="•"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5AAC363B-FD4B-29FF-2EAB-DDEC048B7FC7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BAFF2466-96DC-B5B8-0AC9-CA4DBB7DF6D4}"/>
              </a:ext>
            </a:extLst>
          </p:cNvPr>
          <p:cNvSpPr/>
          <p:nvPr/>
        </p:nvSpPr>
        <p:spPr>
          <a:xfrm>
            <a:off x="251798" y="22530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94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38BA1-C00F-62C7-DF63-762173EF5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312" y="169332"/>
            <a:ext cx="8534400" cy="150706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1B6F5-32C4-289B-9CE7-2F3DB4B3B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76400"/>
            <a:ext cx="11041625" cy="437726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Advanced AI models will create text, images, videos, and code with greater accuracy and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AI processing will move closer to devices, reducing latency and enabling faster real-time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AutoML: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Automated Machine Learning will allow users to build, train, and deploy AI models with minimal coding.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Cloud Services: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Cloud platforms will provide intelligent automation, self-managing systems, and optimized resource allocation.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AI-powered cybersecurity will strengthen threat detection, fraud prevention, and data protection.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Expansion: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AI and ML will continue to transform healthcare, finance, education, agriculture, manufacturing, and other industries.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62046243-96E2-5868-9A96-8B74EEF2DE88}"/>
              </a:ext>
            </a:extLst>
          </p:cNvPr>
          <p:cNvSpPr/>
          <p:nvPr/>
        </p:nvSpPr>
        <p:spPr>
          <a:xfrm>
            <a:off x="251798" y="22530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0C54EAFB-0416-0312-077E-68EC8C74A692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87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3A165-1F79-2932-FBF4-18C3C3A5A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2530"/>
            <a:ext cx="8534400" cy="150706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371CF-5458-5F0D-2734-57B4A45C6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035" y="1726073"/>
            <a:ext cx="1072003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ML enhance cloud platforms through intelligent automation, faster decision-making, and efficient data processing.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provides scalable infrastructure for training, deploying, and managing AI/ML models.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improves security, resource optimization, predictive analytics, and personalized user experiences.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benefit from lower costs, higher productivity, and greater innovation through AI-powered cloud services.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future of cloud platforms lies in deeper AI and ML integration.</a:t>
            </a:r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B7566DD7-5A96-C999-C51C-CE5AFE1FD45E}"/>
              </a:ext>
            </a:extLst>
          </p:cNvPr>
          <p:cNvSpPr/>
          <p:nvPr/>
        </p:nvSpPr>
        <p:spPr>
          <a:xfrm>
            <a:off x="251798" y="22530"/>
            <a:ext cx="1482519" cy="1460348"/>
          </a:xfrm>
          <a:custGeom>
            <a:avLst/>
            <a:gdLst/>
            <a:ahLst/>
            <a:cxnLst/>
            <a:rect l="l" t="t" r="r" b="b"/>
            <a:pathLst>
              <a:path w="2158791" h="2207855">
                <a:moveTo>
                  <a:pt x="0" y="0"/>
                </a:moveTo>
                <a:lnTo>
                  <a:pt x="2158791" y="0"/>
                </a:lnTo>
                <a:lnTo>
                  <a:pt x="2158791" y="2207855"/>
                </a:lnTo>
                <a:lnTo>
                  <a:pt x="0" y="2207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930" b="93662" l="4317" r="94245">
                          <a14:foregroundMark x1="8273" y1="39085" x2="8273" y2="39085"/>
                          <a14:foregroundMark x1="4676" y1="50704" x2="4676" y2="50704"/>
                          <a14:foregroundMark x1="35971" y1="90141" x2="35971" y2="90141"/>
                          <a14:foregroundMark x1="51079" y1="94014" x2="51079" y2="94014"/>
                          <a14:foregroundMark x1="92806" y1="64437" x2="92806" y2="64437"/>
                          <a14:foregroundMark x1="94245" y1="48944" x2="94245" y2="48944"/>
                          <a14:foregroundMark x1="63669" y1="9507" x2="63669" y2="9507"/>
                          <a14:foregroundMark x1="50000" y1="4930" x2="50000" y2="4930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9F4B770-9ACE-D71F-7547-568BD36127DD}"/>
              </a:ext>
            </a:extLst>
          </p:cNvPr>
          <p:cNvSpPr/>
          <p:nvPr/>
        </p:nvSpPr>
        <p:spPr>
          <a:xfrm>
            <a:off x="10631609" y="23096"/>
            <a:ext cx="1308593" cy="1460348"/>
          </a:xfrm>
          <a:custGeom>
            <a:avLst/>
            <a:gdLst/>
            <a:ahLst/>
            <a:cxnLst/>
            <a:rect l="l" t="t" r="r" b="b"/>
            <a:pathLst>
              <a:path w="1909265" h="2207855">
                <a:moveTo>
                  <a:pt x="0" y="0"/>
                </a:moveTo>
                <a:lnTo>
                  <a:pt x="1909265" y="0"/>
                </a:lnTo>
                <a:lnTo>
                  <a:pt x="1909265" y="2207854"/>
                </a:lnTo>
                <a:lnTo>
                  <a:pt x="0" y="2207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986" b="97183" l="2128" r="91915">
                          <a14:foregroundMark x1="22128" y1="78169" x2="22128" y2="78169"/>
                          <a14:foregroundMark x1="62553" y1="23944" x2="62553" y2="23944"/>
                          <a14:foregroundMark x1="62553" y1="23944" x2="62553" y2="23944"/>
                          <a14:foregroundMark x1="85106" y1="37676" x2="85106" y2="37676"/>
                          <a14:foregroundMark x1="85106" y1="37676" x2="85106" y2="37676"/>
                          <a14:foregroundMark x1="51489" y1="9155" x2="51489" y2="9155"/>
                          <a14:foregroundMark x1="51489" y1="9155" x2="51489" y2="9155"/>
                          <a14:foregroundMark x1="16170" y1="16549" x2="16170" y2="16549"/>
                          <a14:foregroundMark x1="16170" y1="16549" x2="16170" y2="16549"/>
                          <a14:foregroundMark x1="12340" y1="18662" x2="12340" y2="18662"/>
                          <a14:foregroundMark x1="12340" y1="18662" x2="12340" y2="18662"/>
                          <a14:foregroundMark x1="8085" y1="26056" x2="8085" y2="26056"/>
                          <a14:foregroundMark x1="8085" y1="26056" x2="8085" y2="26056"/>
                          <a14:foregroundMark x1="39574" y1="40141" x2="39574" y2="40141"/>
                          <a14:foregroundMark x1="39574" y1="40141" x2="39574" y2="40141"/>
                          <a14:foregroundMark x1="2553" y1="53873" x2="31064" y2="42958"/>
                          <a14:foregroundMark x1="31064" y1="42958" x2="35745" y2="39085"/>
                          <a14:foregroundMark x1="25957" y1="16549" x2="42979" y2="11620"/>
                          <a14:foregroundMark x1="42979" y1="6690" x2="42979" y2="6690"/>
                          <a14:foregroundMark x1="42979" y1="6690" x2="42979" y2="6690"/>
                          <a14:foregroundMark x1="61277" y1="18662" x2="56596" y2="39789"/>
                          <a14:foregroundMark x1="58723" y1="18662" x2="86383" y2="22183"/>
                          <a14:foregroundMark x1="86383" y1="22183" x2="92340" y2="26056"/>
                          <a14:foregroundMark x1="14894" y1="92254" x2="14894" y2="92254"/>
                          <a14:foregroundMark x1="25957" y1="92254" x2="25957" y2="92254"/>
                          <a14:foregroundMark x1="31915" y1="96127" x2="31915" y2="96127"/>
                          <a14:foregroundMark x1="12340" y1="94718" x2="48085" y2="94366"/>
                          <a14:foregroundMark x1="48085" y1="94366" x2="83404" y2="96127"/>
                          <a14:foregroundMark x1="48936" y1="97183" x2="80851" y2="94014"/>
                          <a14:foregroundMark x1="80851" y1="94014" x2="91064" y2="94014"/>
                          <a14:foregroundMark x1="83404" y1="92958" x2="22128" y2="95070"/>
                          <a14:foregroundMark x1="22128" y1="95070" x2="70638" y2="91549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 t="-2183" b="-2183"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13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AF9C2-C578-6272-1B4E-40480DB2D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652" y="1539240"/>
            <a:ext cx="11507788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700" dirty="0">
                <a:latin typeface="Curlz MT" panose="040404040507020202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9344321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232</TotalTime>
  <Words>645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Century Gothic</vt:lpstr>
      <vt:lpstr>Curlz MT</vt:lpstr>
      <vt:lpstr>Poppins Semi-Bold</vt:lpstr>
      <vt:lpstr>Times New Roman</vt:lpstr>
      <vt:lpstr>Wingdings 3</vt:lpstr>
      <vt:lpstr>Slice</vt:lpstr>
      <vt:lpstr>   </vt:lpstr>
      <vt:lpstr>INTRODUCTION</vt:lpstr>
      <vt:lpstr>CLOUD PLATFORMS</vt:lpstr>
      <vt:lpstr>How AI &amp; ML Work in the Cloud </vt:lpstr>
      <vt:lpstr>Applications</vt:lpstr>
      <vt:lpstr>Benefits</vt:lpstr>
      <vt:lpstr>Challenges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Madhire Mohan siva reddy</dc:creator>
  <cp:lastModifiedBy>Madhire Mohan siva reddy</cp:lastModifiedBy>
  <cp:revision>5</cp:revision>
  <dcterms:created xsi:type="dcterms:W3CDTF">2026-05-06T15:45:30Z</dcterms:created>
  <dcterms:modified xsi:type="dcterms:W3CDTF">2026-07-22T04:51:32Z</dcterms:modified>
</cp:coreProperties>
</file>